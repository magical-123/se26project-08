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72" r:id="rId8"/>
    <p:sldId id="259" r:id="rId9"/>
    <p:sldId id="260" r:id="rId10"/>
    <p:sldId id="261" r:id="rId11"/>
    <p:sldId id="262" r:id="rId12"/>
    <p:sldId id="263" r:id="rId13"/>
    <p:sldId id="271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大家好，欢迎参加「知食InfoDigest」项目的总结汇报。在过去的一段时间里，我们团队共同努力，成功地将「知食」从一个概念变为了现实。今天，我将向大家全面展示我们的成果、经验与思考。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将回顾产品的核心特色与创新点。接着，深入探讨系统的架构设计与关键技术。之后，会介绍测试与质量保证的情况。然后，分享我们在项目管理和团队协同方面的实践。最后，总结经验教训并对团队成员表示感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首先，让我们回顾一下「知食InfoDigest」的核心产品特色与创新点。这些设计是我们产品价值的核心体现。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产品有三大核心创新点。第一，我们首创了“数字营养模型”，将信息内容量化为营养成分，让用户对自己的信息摄入一目了然。第二，通过AI驱动的话题聚类，自动发现用户的兴趣焦点。第三，我们通过增量统计和性能优化，确保了产品在大数据量下依然保持流畅的用户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接下来，我们将深入探讨项目的系统架构与关键技术实现。这部分是我们产品稳定运行的基石。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架构的核心设计理念是“基于接口的设计”。在Repository层，我们通过接口化实现了数据访问的解耦。在Service层，我们通过抽象化封装了业务逻辑。在Controller层，我们通过统一响应接口规范了API输出。这一理念贯穿始终，带来了极高的灵活性和可维护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在项目中广泛应用了多种经典设计模式。例如，使用依赖注入实现组件的松耦合，使用仓储模式简化数据访问，使用策略模式灵活调整营养分析算法。这些模式的应用，极大地提升了我们代码的质量和可维护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关于测试与质量保证部分，目前相关工作尚未全部完成，因此本页内容将暂时留白。我们将在后续阶段继续完善这部分工作。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一个成功的项目离不开高效的项目管理和团队协同。接下来，我将分享我们在这方面的实践经验。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在项目管理方面，我们严格遵循Git Flow进行版本控制，并通过代码评审保证了代码质量。我们搭建了基于GitHub Actions的CI/CD流水线，实现了自动化部署，将交付效率提升了6倍。整个项目由4位成员高效协作完成，累计提交276次，体现了强大的团队凝聚力。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项目过程中，我们积累了宝贵的经验，也踩过一些坑。这些经验教训将是我们未来成长的宝贵财富。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成功经验主要有三点：增量优化思维带来了显著的性能提升；CI/CD自动化极大地提高了交付效率；微服务拆分降低了系统复杂度。同时，我们也吸取了深刻的教训：数据库设计需要更具前瞻性；缓存逻辑必须严谨；涉及用户数据的删除操作必须极其谨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最后，我要向我们团队的每一位成员表示最诚挚的感谢。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再次感谢Yange、XXXXXXXXXXXX、hezuoyi070229和meiqnuanquan四位成员的卓越贡献。正是大家的专业和协作，才使得「知食InfoDigest」项目得以成功。团队协作是我们成功的关键。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tags" Target="../tags/tag3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image" Target="../media/image10.svg"/><Relationship Id="rId20" Type="http://schemas.openxmlformats.org/officeDocument/2006/relationships/image" Target="../media/image9.png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image" Target="../media/image8.svg"/><Relationship Id="rId12" Type="http://schemas.openxmlformats.org/officeDocument/2006/relationships/image" Target="../media/image7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12.svg"/><Relationship Id="rId33" Type="http://schemas.openxmlformats.org/officeDocument/2006/relationships/notesSlide" Target="../notesSlides/notesSlide6.xml"/><Relationship Id="rId32" Type="http://schemas.openxmlformats.org/officeDocument/2006/relationships/slideLayout" Target="../slideLayouts/slideLayout12.xml"/><Relationship Id="rId31" Type="http://schemas.openxmlformats.org/officeDocument/2006/relationships/tags" Target="../tags/tag41.xml"/><Relationship Id="rId30" Type="http://schemas.openxmlformats.org/officeDocument/2006/relationships/tags" Target="../tags/tag40.xml"/><Relationship Id="rId3" Type="http://schemas.openxmlformats.org/officeDocument/2006/relationships/image" Target="../media/image11.png"/><Relationship Id="rId29" Type="http://schemas.openxmlformats.org/officeDocument/2006/relationships/tags" Target="../tags/tag39.xml"/><Relationship Id="rId28" Type="http://schemas.openxmlformats.org/officeDocument/2006/relationships/tags" Target="../tags/tag38.xml"/><Relationship Id="rId27" Type="http://schemas.openxmlformats.org/officeDocument/2006/relationships/tags" Target="../tags/tag37.xml"/><Relationship Id="rId26" Type="http://schemas.openxmlformats.org/officeDocument/2006/relationships/tags" Target="../tags/tag36.xml"/><Relationship Id="rId25" Type="http://schemas.openxmlformats.org/officeDocument/2006/relationships/tags" Target="../tags/tag35.xml"/><Relationship Id="rId24" Type="http://schemas.openxmlformats.org/officeDocument/2006/relationships/image" Target="../media/image18.svg"/><Relationship Id="rId23" Type="http://schemas.openxmlformats.org/officeDocument/2006/relationships/image" Target="../media/image17.png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20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image" Target="../media/image14.svg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9.png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65.xml"/><Relationship Id="rId23" Type="http://schemas.openxmlformats.org/officeDocument/2006/relationships/tags" Target="../tags/tag64.xml"/><Relationship Id="rId22" Type="http://schemas.openxmlformats.org/officeDocument/2006/relationships/tags" Target="../tags/tag63.xml"/><Relationship Id="rId21" Type="http://schemas.openxmlformats.org/officeDocument/2006/relationships/tags" Target="../tags/tag62.xml"/><Relationship Id="rId20" Type="http://schemas.openxmlformats.org/officeDocument/2006/relationships/tags" Target="../tags/tag61.xml"/><Relationship Id="rId2" Type="http://schemas.openxmlformats.org/officeDocument/2006/relationships/tags" Target="../tags/tag43.xml"/><Relationship Id="rId19" Type="http://schemas.openxmlformats.org/officeDocument/2006/relationships/tags" Target="../tags/tag60.xml"/><Relationship Id="rId18" Type="http://schemas.openxmlformats.org/officeDocument/2006/relationships/tags" Target="../tags/tag59.xml"/><Relationship Id="rId17" Type="http://schemas.openxmlformats.org/officeDocument/2006/relationships/tags" Target="../tags/tag58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1.svg"/><Relationship Id="rId11" Type="http://schemas.openxmlformats.org/officeDocument/2006/relationships/image" Target="../media/image40.png"/><Relationship Id="rId10" Type="http://schemas.openxmlformats.org/officeDocument/2006/relationships/image" Target="../media/image39.svg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../media/image43.svg"/><Relationship Id="rId38" Type="http://schemas.openxmlformats.org/officeDocument/2006/relationships/notesSlide" Target="../notesSlides/notesSlide12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89.xml"/><Relationship Id="rId35" Type="http://schemas.openxmlformats.org/officeDocument/2006/relationships/tags" Target="../tags/tag88.xml"/><Relationship Id="rId34" Type="http://schemas.openxmlformats.org/officeDocument/2006/relationships/image" Target="../media/image51.svg"/><Relationship Id="rId33" Type="http://schemas.openxmlformats.org/officeDocument/2006/relationships/image" Target="../media/image50.png"/><Relationship Id="rId32" Type="http://schemas.openxmlformats.org/officeDocument/2006/relationships/tags" Target="../tags/tag87.xml"/><Relationship Id="rId31" Type="http://schemas.openxmlformats.org/officeDocument/2006/relationships/tags" Target="../tags/tag86.xml"/><Relationship Id="rId30" Type="http://schemas.openxmlformats.org/officeDocument/2006/relationships/tags" Target="../tags/tag85.xml"/><Relationship Id="rId3" Type="http://schemas.openxmlformats.org/officeDocument/2006/relationships/image" Target="../media/image42.png"/><Relationship Id="rId29" Type="http://schemas.openxmlformats.org/officeDocument/2006/relationships/tags" Target="../tags/tag84.xml"/><Relationship Id="rId28" Type="http://schemas.openxmlformats.org/officeDocument/2006/relationships/image" Target="../media/image49.svg"/><Relationship Id="rId27" Type="http://schemas.openxmlformats.org/officeDocument/2006/relationships/image" Target="../media/image48.png"/><Relationship Id="rId26" Type="http://schemas.openxmlformats.org/officeDocument/2006/relationships/tags" Target="../tags/tag83.xml"/><Relationship Id="rId25" Type="http://schemas.openxmlformats.org/officeDocument/2006/relationships/tags" Target="../tags/tag82.xml"/><Relationship Id="rId24" Type="http://schemas.openxmlformats.org/officeDocument/2006/relationships/tags" Target="../tags/tag81.xml"/><Relationship Id="rId23" Type="http://schemas.openxmlformats.org/officeDocument/2006/relationships/tags" Target="../tags/tag80.xml"/><Relationship Id="rId22" Type="http://schemas.openxmlformats.org/officeDocument/2006/relationships/image" Target="../media/image47.svg"/><Relationship Id="rId21" Type="http://schemas.openxmlformats.org/officeDocument/2006/relationships/image" Target="../media/image46.png"/><Relationship Id="rId20" Type="http://schemas.openxmlformats.org/officeDocument/2006/relationships/tags" Target="../tags/tag79.xml"/><Relationship Id="rId2" Type="http://schemas.openxmlformats.org/officeDocument/2006/relationships/tags" Target="../tags/tag67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image" Target="../media/image28.svg"/><Relationship Id="rId15" Type="http://schemas.openxmlformats.org/officeDocument/2006/relationships/image" Target="../media/image27.png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image" Target="../media/image45.svg"/><Relationship Id="rId1" Type="http://schemas.openxmlformats.org/officeDocument/2006/relationships/tags" Target="../tags/tag6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svg"/><Relationship Id="rId8" Type="http://schemas.openxmlformats.org/officeDocument/2006/relationships/image" Target="../media/image54.png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image" Target="../media/image53.svg"/><Relationship Id="rId3" Type="http://schemas.openxmlformats.org/officeDocument/2006/relationships/image" Target="../media/image52.png"/><Relationship Id="rId24" Type="http://schemas.openxmlformats.org/officeDocument/2006/relationships/notesSlide" Target="../notesSlides/notesSlide14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61.svg"/><Relationship Id="rId21" Type="http://schemas.openxmlformats.org/officeDocument/2006/relationships/image" Target="../media/image60.png"/><Relationship Id="rId20" Type="http://schemas.openxmlformats.org/officeDocument/2006/relationships/tags" Target="../tags/tag101.xml"/><Relationship Id="rId2" Type="http://schemas.openxmlformats.org/officeDocument/2006/relationships/tags" Target="../tags/tag91.xml"/><Relationship Id="rId19" Type="http://schemas.openxmlformats.org/officeDocument/2006/relationships/image" Target="../media/image59.svg"/><Relationship Id="rId18" Type="http://schemas.openxmlformats.org/officeDocument/2006/relationships/image" Target="../media/image58.png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image" Target="../media/image57.svg"/><Relationship Id="rId13" Type="http://schemas.openxmlformats.org/officeDocument/2006/relationships/image" Target="../media/image56.png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9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9F9F9">
                <a:alpha val="100000"/>
              </a:srgbClr>
            </a:gs>
            <a:gs pos="100000">
              <a:srgbClr val="F0F0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1016000"/>
            <a:ext cx="2794000" cy="2794000"/>
          </a:xfrm>
          <a:prstGeom prst="ellipse">
            <a:avLst/>
          </a:prstGeom>
          <a:solidFill>
            <a:srgbClr val="333333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461000"/>
            <a:ext cx="1778000" cy="1778000"/>
          </a:xfrm>
          <a:prstGeom prst="ellipse">
            <a:avLst/>
          </a:prstGeom>
          <a:solidFill>
            <a:srgbClr val="333333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1176000" y="5588000"/>
            <a:ext cx="1016000" cy="1016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2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知食InfoDigest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04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项目总结汇报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000500"/>
            <a:ext cx="1524000" cy="508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4572000"/>
            <a:ext cx="965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从概念孵化到产品落地，我们深度复盘项目全周期的探索与实践。</a:t>
            </a:r>
            <a:br>
              <a:rPr 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通过数据洞察、运营成果与经验沉淀，共探健康</a:t>
            </a:r>
            <a:r>
              <a:rPr lang="zh-CN" alt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</a:t>
            </a:r>
            <a:r>
              <a:rPr 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饮食与智能生活的融合新范式。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905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AAA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汇报团队：知食项目组 | 汇报日期：2026年7月31</a:t>
            </a:r>
            <a:r>
              <a:rPr lang="zh-CN" altLang="en-US" sz="1400" b="0" i="0" u="none" strike="noStrike">
                <a:solidFill>
                  <a:srgbClr val="AAAA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1400" b="0" i="0" u="none" strike="noStrike">
              <a:solidFill>
                <a:srgbClr val="AAAAA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01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 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22500"/>
            <a:ext cx="4953000" cy="1270000"/>
          </a:xfrm>
          <a:prstGeom prst="roundRect">
            <a:avLst>
              <a:gd name="adj" fmla="val 0"/>
            </a:avLst>
          </a:prstGeom>
          <a:solidFill>
            <a:srgbClr val="F2F2F2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76200" cy="1270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2349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95500" y="23876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产品特色与创新点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29464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深度解析产品核心功能亮点，挖掘差异化创新优势，诠释产品为用户带来的核心价值与市场竞争力。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222500"/>
            <a:ext cx="4953000" cy="1270000"/>
          </a:xfrm>
          <a:prstGeom prst="roundRect">
            <a:avLst>
              <a:gd name="adj" fmla="val 0"/>
            </a:avLst>
          </a:prstGeom>
          <a:solidFill>
            <a:srgbClr val="F2F2F2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2222500"/>
            <a:ext cx="76200" cy="1270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2349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02500" y="23876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架构与关键技术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9464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拆解系统底层架构逻辑，详解核心技术栈选型与应用，分享技术难点攻克与架构优化的实战方案。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3746500"/>
            <a:ext cx="4953000" cy="1270000"/>
          </a:xfrm>
          <a:prstGeom prst="roundRect">
            <a:avLst>
              <a:gd name="adj" fmla="val 0"/>
            </a:avLst>
          </a:prstGeom>
          <a:solidFill>
            <a:srgbClr val="F2F2F2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3746500"/>
            <a:ext cx="76200" cy="1270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270000" y="3873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095500" y="39116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测试与质量保证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270000" y="44704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构建全流程质量管控体系，展示自动化测试覆盖范围与性能优化成果，确保系统的高可用性与稳定性。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3746500"/>
            <a:ext cx="4953000" cy="1270000"/>
          </a:xfrm>
          <a:prstGeom prst="roundRect">
            <a:avLst>
              <a:gd name="adj" fmla="val 0"/>
            </a:avLst>
          </a:prstGeom>
          <a:solidFill>
            <a:srgbClr val="F2F2F2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3746500"/>
            <a:ext cx="76200" cy="1270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77000" y="3873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02500" y="39116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项目管理与团队协同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44704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分享敏捷开发模式的落地实践，解析跨部门高效协作机制，以及项目进度、风险与资源的精细化管控。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5270500"/>
            <a:ext cx="4953000" cy="1270000"/>
          </a:xfrm>
          <a:prstGeom prst="roundRect">
            <a:avLst>
              <a:gd name="adj" fmla="val 0"/>
            </a:avLst>
          </a:prstGeom>
          <a:solidFill>
            <a:srgbClr val="F2F2F2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16000" y="5270500"/>
            <a:ext cx="76200" cy="1270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270000" y="5397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095500" y="54356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经验教训与未来展望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270000" y="59436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复盘项目关键节点的经验与反思，剖析执行过程中的问题根源，规划产品未来迭代方向与技术演进路线。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23000" y="5270500"/>
            <a:ext cx="4953000" cy="1270000"/>
          </a:xfrm>
          <a:prstGeom prst="roundRect">
            <a:avLst>
              <a:gd name="adj" fmla="val 0"/>
            </a:avLst>
          </a:prstGeom>
          <a:solidFill>
            <a:srgbClr val="F2F2F2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223000" y="5270500"/>
            <a:ext cx="76200" cy="1270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477000" y="5397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302500" y="54356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成员贡献与致谢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477000" y="59436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致敬团队每一位成员的辛勤付出与汗水，表彰项目中的核心贡献者，分享项目背后的成长故事与感动。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905000"/>
            <a:ext cx="5080000" cy="5080000"/>
          </a:xfrm>
          <a:prstGeom prst="ellipse">
            <a:avLst/>
          </a:prstGeom>
          <a:solidFill>
            <a:srgbClr val="FFFFFF">
              <a:alpha val="5000"/>
            </a:srgbClr>
          </a:solidFill>
          <a:ln cap="flat" cmpd="sng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255000" y="3175000"/>
            <a:ext cx="6350000" cy="6350000"/>
          </a:xfrm>
          <a:prstGeom prst="ellipse">
            <a:avLst/>
          </a:prstGeom>
          <a:solidFill>
            <a:srgbClr val="FFFFFF">
              <a:alpha val="3000"/>
            </a:srgbClr>
          </a:solidFill>
          <a:ln cap="flat" cmpd="sng">
            <a:solidFill>
              <a:srgbClr val="E6CFCF">
                <a:alpha val="3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2032000"/>
            <a:ext cx="203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0" b="1" i="0" u="none" strike="noStrike">
                <a:solidFill>
                  <a:srgbClr val="FFFFFF">
                    <a:alpha val="7843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540000" y="30480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产品特色与创新点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40000" y="4318000"/>
            <a:ext cx="1270000" cy="38100"/>
          </a:xfrm>
          <a:prstGeom prst="roundRect">
            <a:avLst>
              <a:gd name="adj" fmla="val 0"/>
            </a:avLst>
          </a:prstGeom>
          <a:solidFill>
            <a:srgbClr val="FFFFFF">
              <a:alpha val="25000"/>
            </a:srgbClr>
          </a:solidFill>
          <a:ln cap="flat" cmpd="sng">
            <a:solidFill>
              <a:srgbClr val="E6CFC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2540000" y="48895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spc="300">
                <a:solidFill>
                  <a:srgbClr val="FFFFFF">
                    <a:alpha val="4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聚焦核心价值，打造差异化竞争优势.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861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0"/>
            <a:ext cx="30861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0"/>
            <a:ext cx="30861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3845" y="0"/>
            <a:ext cx="30886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产品特色与核心创新点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16000" y="2032000"/>
            <a:ext cx="3213100" cy="3556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016000" y="2032000"/>
            <a:ext cx="32131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778000" y="24130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数字营养模型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7"/>
            </p:custDataLst>
          </p:nvPr>
        </p:nvCxnSpPr>
        <p:spPr>
          <a:xfrm rot="-16139">
            <a:off x="1270015" y="3041650"/>
            <a:ext cx="270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270000" y="3302000"/>
            <a:ext cx="27051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首创性地将信息内容映射为“蛋白质、碳水、维生素、脂肪、纤维”五维营养模型，让用户清晰掌握每日信息摄入的“营养结构”，实现信息消费的科学化管理。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4483100" y="2032000"/>
            <a:ext cx="3213100" cy="3556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4483100" y="2032000"/>
            <a:ext cx="32131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37100" y="2413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5245100" y="24130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全平台聚合</a:t>
            </a:r>
            <a:endParaRPr lang="en-US" sz="1100"/>
          </a:p>
        </p:txBody>
      </p:sp>
      <p:cxnSp>
        <p:nvCxnSpPr>
          <p:cNvPr id="15" name="Connector 15"/>
          <p:cNvCxnSpPr/>
          <p:nvPr>
            <p:custDataLst>
              <p:tags r:id="rId15"/>
            </p:custDataLst>
          </p:nvPr>
        </p:nvCxnSpPr>
        <p:spPr>
          <a:xfrm rot="-16139">
            <a:off x="4737115" y="3041650"/>
            <a:ext cx="270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4737100" y="3302000"/>
            <a:ext cx="27051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打破信息孤岛，支持对B站、知乎等主流内容平台的信息进行统一捕获与管理，为用户提供一站式的信息消费入口。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7950200" y="2032000"/>
            <a:ext cx="3213100" cy="3556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7950200" y="2032000"/>
            <a:ext cx="3213100" cy="508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04200" y="2413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8712200" y="24130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AI智能分析用户画像</a:t>
            </a:r>
            <a:endParaRPr lang="en-US" sz="1100"/>
          </a:p>
        </p:txBody>
      </p:sp>
      <p:cxnSp>
        <p:nvCxnSpPr>
          <p:cNvPr id="21" name="Connector 21"/>
          <p:cNvCxnSpPr/>
          <p:nvPr>
            <p:custDataLst>
              <p:tags r:id="rId23"/>
            </p:custDataLst>
          </p:nvPr>
        </p:nvCxnSpPr>
        <p:spPr>
          <a:xfrm rot="-16139">
            <a:off x="8204215" y="3041650"/>
            <a:ext cx="270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8204200" y="3302000"/>
            <a:ext cx="27051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</a:t>
            </a:r>
            <a:r>
              <a:rPr lang="en-US" altLang="zh-CN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KNOWLEGE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升级为</a:t>
            </a:r>
            <a:r>
              <a:rPr lang="en-US" altLang="zh-CN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MINDSCAPE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（脑海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图景）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通过AI对用户的信息消费行为进行深度分析，自动生成多维度的用户画像，精准识别用户的信息偏好与潜在需求。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596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以技术创新重构信息消费体验，用数据智能打破认知局限，为用户创造更高效、更健康的数字生活方式。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524000"/>
            <a:ext cx="4445000" cy="4445000"/>
          </a:xfrm>
          <a:prstGeom prst="ellipse">
            <a:avLst/>
          </a:prstGeom>
          <a:solidFill>
            <a:srgbClr val="FFFFFF">
              <a:alpha val="5000"/>
            </a:srgbClr>
          </a:solidFill>
          <a:ln cap="flat" cmpd="sng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762000" y="5207000"/>
            <a:ext cx="2794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cap="flat" cmpd="sng">
            <a:solidFill>
              <a:srgbClr val="E6CFCF">
                <a:alpha val="3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2095500"/>
            <a:ext cx="2286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0" b="1" i="0" u="none" strike="noStrike">
                <a:solidFill>
                  <a:srgbClr val="FFFFFF">
                    <a:alpha val="1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540000" y="3048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架构与关键技术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40000" y="419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2540000" y="4889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基于微服务架构的高可用设计，融合分布式缓存、消息队列与容器化技术，构建稳定、高效、可扩展的技术底座，为业务增长提供坚实的技术支撑。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核心设计理念：基于接口的设计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16000" y="1905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333333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841500" y="2095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Repository 层接口化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270000" y="2603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所有数据访问通过JPA Repository接口定义，剥离具体实现细节，实现数据操作与业务逻辑的彻底解耦，提升系统的扩展性与维护性。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016000" y="3492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333333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0000" y="3683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1841500" y="3683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Service 层抽象化封装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1270000" y="4191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核心业务逻辑封装于接口层，便于实现依赖注入与灵活替换，降低组件耦合度，同时为单元测试、模块复用提供坚实基础。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1016000" y="508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333333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70000" y="5270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1841500" y="5270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Controller 统一响应契约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1270000" y="5778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ResponseEntity 统一封装HTTP响应，规范状态码、数据结构与错误信息，确保API一致性，大幅提升前后端协作效率。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6604000" y="19050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333333">
              <a:alpha val="8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6731000" y="20574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交互层：标准化输出契约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6731000" y="2476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统一响应格式 · 规范状态码体系 · 降低沟通成本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77300" y="30480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6604000" y="34290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333333">
              <a:alpha val="8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6731000" y="35814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逻辑层：业务抽象屏障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6731000" y="4000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接口定义业务边界 · 依赖倒置原则 · 易于测试扩展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77300" y="45720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29"/>
            </p:custDataLst>
          </p:nvPr>
        </p:nvSpPr>
        <p:spPr>
          <a:xfrm>
            <a:off x="6604000" y="50165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333333">
              <a:alpha val="8000"/>
            </a:srgbClr>
          </a:solidFill>
          <a:ln w="12700" cap="flat" cmpd="sng">
            <a:solidFill>
              <a:srgbClr val="333333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30"/>
            </p:custDataLst>
          </p:nvPr>
        </p:nvSpPr>
        <p:spPr>
          <a:xfrm>
            <a:off x="6731000" y="51689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数据层：持久化解耦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31"/>
            </p:custDataLst>
          </p:nvPr>
        </p:nvSpPr>
        <p:spPr>
          <a:xfrm>
            <a:off x="6731000" y="5588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面向接口编程 · 屏蔽底层差异 · 灵活切换数据源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应用的设计模式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经典模式全景应用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5961F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2641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01800" y="25654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依赖注入 (DI)：架构解耦基石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通过控制反转实现对象依赖的动态注入，消除硬编码耦合，大幅提升模块的可测试性与复用性，是构建灵活可扩展架构的核心。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37465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4CB782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200" y="39751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01800" y="38989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仓储模式 (Repository)：数据标准化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统一封装数据持久化逻辑，为业务层提供标准化接口，屏蔽MySQL、Redis等底层数据源差异，实现业务与存储的彻底解耦。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50800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5A623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9200" y="5308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01800" y="52324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单例与缓存：性能与资源优化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单例模式高效管理全局共享资源，避免重复实例化开销；缓存模式拦截高频重复请求，减少IO与计算损耗，显著提升系统吞吐。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17780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策略模式：营养分析的动态引擎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413000"/>
            <a:ext cx="4953000" cy="1397000"/>
          </a:xfrm>
          <a:prstGeom prst="roundRect">
            <a:avLst>
              <a:gd name="adj" fmla="val 0"/>
            </a:avLst>
          </a:prstGeom>
          <a:solidFill>
            <a:srgbClr val="333333">
              <a:alpha val="4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25654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核心机制：定义与实现的分离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将算法逻辑封装为独立的“策略”对象，使算法的选择与使用完全解耦。这使得系统能够在运行时动态切换算法，轻松应对业务规则的频繁变更。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3937000"/>
            <a:ext cx="2387600" cy="1460500"/>
          </a:xfrm>
          <a:prstGeom prst="roundRect">
            <a:avLst>
              <a:gd name="adj" fmla="val 0"/>
            </a:avLst>
          </a:prstGeom>
          <a:solidFill>
            <a:srgbClr val="3B82F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75400" y="40894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05600" y="40894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权重配置化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75400" y="44704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通过配置中心动态下发营养维度权重，无需重启即可适配不同人群的健康评估标准。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788400" y="3937000"/>
            <a:ext cx="23876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40800" y="4089400"/>
            <a:ext cx="279400" cy="279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271000" y="40894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算法热插拔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940800" y="4470400"/>
            <a:ext cx="215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新增评估模型时，仅需实现策略接口即可无缝接入，支持多版本算法并行运行。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3000" y="5524500"/>
            <a:ext cx="4953000" cy="889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413500" y="5651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策略模式的应用，让营养分析模块具备了极强的业务适应性，不仅降低了维护成本，更实现了“需求变，代码稳”的高可用架构目标。</a:t>
            </a:r>
            <a:endParaRPr lang="en-US" sz="110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0" y="6350"/>
            <a:ext cx="12179300" cy="684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2032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0" b="1" i="0" u="none" strike="noStrike">
                <a:solidFill>
                  <a:srgbClr val="FFFFFF">
                    <a:alpha val="7843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40000" y="30480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测试与质量保证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540000" y="4191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建立全流程质量管控体系，从单元测试到验收测试层层把关，</a:t>
            </a:r>
            <a:br>
              <a:rPr lang="en-US" sz="16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以标准化的测试规范保障产品的稳定性与用户体验。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540000" y="5461000"/>
            <a:ext cx="1524000" cy="381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347472"/>
            <a:ext cx="530352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3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测试与质量保证</a:t>
            </a:r>
            <a:endParaRPr sz="3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2503" y="932180"/>
            <a:ext cx="1005840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1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覆盖功能正确性、AI分析链路与多端使用体验，验证系统可稳定交付。</a:t>
            </a:r>
            <a:endParaRPr sz="1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>
            <p:custDataLst>
              <p:tags r:id="rId1"/>
            </p:custDataLst>
          </p:nvPr>
        </p:nvSpPr>
        <p:spPr>
          <a:xfrm>
            <a:off x="658368" y="1554480"/>
            <a:ext cx="5074920" cy="1115568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658368" y="1554480"/>
            <a:ext cx="64008" cy="11155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3"/>
            </p:custDataLst>
          </p:nvPr>
        </p:nvSpPr>
        <p:spPr>
          <a:xfrm>
            <a:off x="886968" y="1691640"/>
            <a:ext cx="47091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17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测试体系</a:t>
            </a:r>
            <a:endParaRPr sz="17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>
            <p:custDataLst>
              <p:tags r:id="rId4"/>
            </p:custDataLst>
          </p:nvPr>
        </p:nvSpPr>
        <p:spPr>
          <a:xfrm>
            <a:off x="886968" y="2039112"/>
            <a:ext cx="4709160" cy="5394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后端 JUnit + Mockito；前端 Vitest + React Testing Library；结合系统功能测试。</a:t>
            </a:r>
            <a:endParaRPr sz="12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>
            <p:custDataLst>
              <p:tags r:id="rId5"/>
            </p:custDataLst>
          </p:nvPr>
        </p:nvSpPr>
        <p:spPr>
          <a:xfrm>
            <a:off x="6035040" y="1554480"/>
            <a:ext cx="5074920" cy="1115568"/>
          </a:xfrm>
          <a:prstGeom prst="rect">
            <a:avLst/>
          </a:prstGeom>
          <a:solidFill>
            <a:srgbClr val="F4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6"/>
            </p:custDataLst>
          </p:nvPr>
        </p:nvSpPr>
        <p:spPr>
          <a:xfrm>
            <a:off x="6035040" y="1554480"/>
            <a:ext cx="64008" cy="11155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7"/>
            </p:custDataLst>
          </p:nvPr>
        </p:nvSpPr>
        <p:spPr>
          <a:xfrm>
            <a:off x="6263640" y="1691640"/>
            <a:ext cx="47091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17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测试结论</a:t>
            </a:r>
            <a:endParaRPr sz="17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>
            <p:custDataLst>
              <p:tags r:id="rId8"/>
            </p:custDataLst>
          </p:nvPr>
        </p:nvSpPr>
        <p:spPr>
          <a:xfrm>
            <a:off x="6263640" y="2039112"/>
            <a:ext cx="4709160" cy="5394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后端 116 个测试全部通过；前端 864 个测试全部通过，核心业务链路验证通过。</a:t>
            </a:r>
            <a:endParaRPr sz="12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9"/>
            </p:custDataLst>
          </p:nvPr>
        </p:nvSpPr>
        <p:spPr>
          <a:xfrm>
            <a:off x="606933" y="2890139"/>
            <a:ext cx="5074920" cy="1115568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10"/>
            </p:custDataLst>
          </p:nvPr>
        </p:nvSpPr>
        <p:spPr>
          <a:xfrm>
            <a:off x="658368" y="2889504"/>
            <a:ext cx="64008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11"/>
            </p:custDataLst>
          </p:nvPr>
        </p:nvSpPr>
        <p:spPr>
          <a:xfrm>
            <a:off x="886968" y="3026664"/>
            <a:ext cx="47091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sz="17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后端覆盖率</a:t>
            </a:r>
            <a:endParaRPr sz="17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12"/>
            </p:custDataLst>
          </p:nvPr>
        </p:nvSpPr>
        <p:spPr>
          <a:xfrm>
            <a:off x="886968" y="3374136"/>
            <a:ext cx="4709160" cy="5394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JaCoCo 行覆盖率 </a:t>
            </a:r>
            <a:r>
              <a:rPr lang="en-US"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90</a:t>
            </a:r>
            <a:r>
              <a:rPr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%；Controller </a:t>
            </a:r>
            <a:r>
              <a:rPr lang="en-US"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94</a:t>
            </a:r>
            <a:r>
              <a:rPr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%，Service </a:t>
            </a:r>
            <a:r>
              <a:rPr lang="en-US"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94</a:t>
            </a:r>
            <a:r>
              <a:rPr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%，Security </a:t>
            </a:r>
            <a:r>
              <a:rPr lang="en-US"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91</a:t>
            </a:r>
            <a:r>
              <a:rPr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%</a:t>
            </a:r>
            <a:r>
              <a:rPr sz="1250" b="1">
                <a:solidFill>
                  <a:srgbClr val="626974"/>
                </a:solidFill>
                <a:latin typeface="微软雅黑" panose="020B0503020204020204" charset="-122"/>
              </a:rPr>
              <a:t>。</a:t>
            </a:r>
            <a:endParaRPr sz="1250" b="1">
              <a:solidFill>
                <a:srgbClr val="626974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13"/>
            </p:custDataLst>
          </p:nvPr>
        </p:nvSpPr>
        <p:spPr>
          <a:xfrm>
            <a:off x="5998845" y="2889504"/>
            <a:ext cx="5074920" cy="1115568"/>
          </a:xfrm>
          <a:prstGeom prst="rect">
            <a:avLst/>
          </a:prstGeom>
          <a:solidFill>
            <a:srgbClr val="F0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4"/>
            </p:custDataLst>
          </p:nvPr>
        </p:nvSpPr>
        <p:spPr>
          <a:xfrm>
            <a:off x="6035040" y="2889504"/>
            <a:ext cx="64008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15"/>
            </p:custDataLst>
          </p:nvPr>
        </p:nvSpPr>
        <p:spPr>
          <a:xfrm>
            <a:off x="6263640" y="3026664"/>
            <a:ext cx="47091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17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前端覆盖率</a:t>
            </a:r>
            <a:endParaRPr sz="17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>
            <p:custDataLst>
              <p:tags r:id="rId16"/>
            </p:custDataLst>
          </p:nvPr>
        </p:nvSpPr>
        <p:spPr>
          <a:xfrm>
            <a:off x="6263640" y="3374136"/>
            <a:ext cx="4709160" cy="5394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Statements 90.02%；Lines 91.12%；Functions 92.70%，</a:t>
            </a:r>
            <a:r>
              <a:rPr lang="zh-CN"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总体</a:t>
            </a:r>
            <a:r>
              <a:rPr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语句覆盖率达到 90% 要求</a:t>
            </a:r>
            <a:r>
              <a:rPr sz="1250" b="0">
                <a:solidFill>
                  <a:srgbClr val="626974"/>
                </a:solidFill>
                <a:latin typeface="微软雅黑" panose="020B0503020204020204" charset="-122"/>
              </a:rPr>
              <a:t>。</a:t>
            </a:r>
            <a:endParaRPr sz="1250" b="0">
              <a:solidFill>
                <a:srgbClr val="626974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>
            <p:custDataLst>
              <p:tags r:id="rId17"/>
            </p:custDataLst>
          </p:nvPr>
        </p:nvSpPr>
        <p:spPr>
          <a:xfrm>
            <a:off x="658368" y="4224528"/>
            <a:ext cx="5074920" cy="1115568"/>
          </a:xfrm>
          <a:prstGeom prst="rect">
            <a:avLst/>
          </a:prstGeom>
          <a:solidFill>
            <a:srgbClr val="FD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8"/>
            </p:custDataLst>
          </p:nvPr>
        </p:nvSpPr>
        <p:spPr>
          <a:xfrm>
            <a:off x="658368" y="4224528"/>
            <a:ext cx="64008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9"/>
            </p:custDataLst>
          </p:nvPr>
        </p:nvSpPr>
        <p:spPr>
          <a:xfrm>
            <a:off x="886968" y="4361688"/>
            <a:ext cx="47091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17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重点验证</a:t>
            </a:r>
            <a:endParaRPr sz="17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>
            <p:custDataLst>
              <p:tags r:id="rId20"/>
            </p:custDataLst>
          </p:nvPr>
        </p:nvSpPr>
        <p:spPr>
          <a:xfrm>
            <a:off x="886968" y="4709160"/>
            <a:ext cx="4709160" cy="5394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授权过期与权限隔离、AI失败重试、Redis队列、缓存、空数据报告及响应式布局。</a:t>
            </a:r>
            <a:endParaRPr sz="12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>
            <p:custDataLst>
              <p:tags r:id="rId21"/>
            </p:custDataLst>
          </p:nvPr>
        </p:nvSpPr>
        <p:spPr>
          <a:xfrm>
            <a:off x="6035040" y="4224528"/>
            <a:ext cx="5074920" cy="1115568"/>
          </a:xfrm>
          <a:prstGeom prst="rect">
            <a:avLst/>
          </a:prstGeom>
          <a:solidFill>
            <a:srgbClr val="FD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>
            <p:custDataLst>
              <p:tags r:id="rId22"/>
            </p:custDataLst>
          </p:nvPr>
        </p:nvSpPr>
        <p:spPr>
          <a:xfrm>
            <a:off x="6035040" y="4224528"/>
            <a:ext cx="64008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23"/>
            </p:custDataLst>
          </p:nvPr>
        </p:nvSpPr>
        <p:spPr>
          <a:xfrm>
            <a:off x="6263640" y="4361688"/>
            <a:ext cx="47091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17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质量结论</a:t>
            </a:r>
            <a:endParaRPr sz="17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>
            <p:custDataLst>
              <p:tags r:id="rId24"/>
            </p:custDataLst>
          </p:nvPr>
        </p:nvSpPr>
        <p:spPr>
          <a:xfrm>
            <a:off x="6263640" y="4709160"/>
            <a:ext cx="4709160" cy="5394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1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功能测试与单元测试结果稳定，关键异常分支可控，系统满足最终交付要求。</a:t>
            </a:r>
            <a:endParaRPr sz="12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533888" y="6053328"/>
            <a:ext cx="86868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l"/>
            <a:r>
              <a:rPr sz="900" b="1">
                <a:solidFill>
                  <a:srgbClr val="626974"/>
                </a:solidFill>
                <a:latin typeface="微软雅黑" panose="020B0503020204020204" charset="-122"/>
              </a:rPr>
              <a:t>03</a:t>
            </a:r>
            <a:endParaRPr sz="900" b="1">
              <a:solidFill>
                <a:srgbClr val="62697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2159000"/>
            <a:ext cx="228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0" b="1" i="0" u="none" strike="noStrike">
                <a:solidFill>
                  <a:srgbClr val="FFFFFF">
                    <a:alpha val="7843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540000" y="3048000"/>
            <a:ext cx="914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项目管理与团队协同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40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2540000" y="4635500"/>
            <a:ext cx="901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构建标准化的项目全流程管控机制，打破跨部门协作壁垒，通过透明化沟通与高效协同，实现资源优化配置，确保项目目标的高质量达成与团队效能的持续提升。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项目管理与团队协同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0066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930400"/>
            <a:ext cx="450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 Flow 规范化版本管理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严格遵循标准分支模型，通过 Pull Request 执行强制代码评审机制，确保开发、测试与生产环境的版本隔离，从源头保障代码质量与迭代稳定性。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33655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35941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3517900"/>
            <a:ext cx="450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 Actions 自动化流水线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搭建“提交即构建、合并即部署”的全自动化工作流，将人工部署耗时从 30 分钟压缩至 5 分钟，实现分钟级交付，极大提升了对业务需求的响应速度。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953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51816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5105400"/>
            <a:ext cx="450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高效协同与敏捷交付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位核心成员跨角色紧密配合，累计完成 276 次代码提交。通过每日站会与迭代复盘机制，快速对齐目标，展现了极高的团队凝聚力与专业分工。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604000" y="17780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4F46E5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21463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493000" y="19304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部署效率提升 600%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从传统的 30 分钟人工部署，缩短至 5 分钟自动化交付，彻底消除了环境配置差异带来的风险。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604000" y="33655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8000" y="37338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493000" y="35179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代码提交 276+ 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高频次、小步快跑的迭代模式，配合严格的代码审查，确保了项目的持续演进与高质量交付。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604000" y="49530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58000" y="53213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93000" y="51054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人全栈攻坚小组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涵盖产品、前端、后端与运维的全职能配置，扁平化沟通结构，决策高效，执行有力。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33333">
                <a:alpha val="100000"/>
              </a:srgbClr>
            </a:gs>
            <a:gs pos="100000">
              <a:srgbClr val="1E1E1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16000" y="-1016000"/>
            <a:ext cx="3810000" cy="3810000"/>
          </a:xfrm>
          <a:prstGeom prst="ellipse">
            <a:avLst/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0" y="4445000"/>
            <a:ext cx="5080000" cy="5080000"/>
          </a:xfrm>
          <a:prstGeom prst="ellipse">
            <a:avLst/>
          </a:prstGeom>
          <a:solidFill>
            <a:srgbClr val="FFFF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2159000"/>
            <a:ext cx="228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FFFF">
                    <a:alpha val="1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540000" y="3048000"/>
            <a:ext cx="914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经验教训与未来展望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40000" y="4191000"/>
            <a:ext cx="914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5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深度复盘项目全周期的经验沉淀与避坑指南，萃取可复用的核心方法论；立足当下趋势，结合团队优势与市场机遇，清晰勾勒下一阶段的战略蓝图与执行路径。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540000" y="5651500"/>
            <a:ext cx="1524000" cy="38100"/>
          </a:xfrm>
          <a:prstGeom prst="roundRect">
            <a:avLst>
              <a:gd name="adj" fmla="val 0"/>
            </a:avLst>
          </a:prstGeom>
          <a:solidFill>
            <a:srgbClr val="FFFF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F59E0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成功经验与深刻教训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成功经验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1016000" y="22225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2476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778000" y="23495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增量优化思维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778000" y="27686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引入数据预聚合策略，将高频复杂查询的响应速度提升数十倍，彻底解决高并发场景下的性能瓶颈，大幅优化用户体验。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016000" y="36195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6500" y="3873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1778000" y="37465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CI/CD 自动化体系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1778000" y="41656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搭建全流程自动化交付流水线，实现从代码提交到上线部署的一键完成，研发效率提升超40%，工程投资回报率显著。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1016000" y="50165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06500" y="5270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1778000" y="51435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微服务架构拆分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1778000" y="55626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按业务域合理拆解系统边界，降低模块耦合度，实现服务独立部署与弹性扩容，支撑业务的快速迭代与规模化发展。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65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深刻教训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9"/>
            </p:custDataLst>
          </p:nvPr>
        </p:nvSpPr>
        <p:spPr>
          <a:xfrm>
            <a:off x="6350000" y="22225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540500" y="2476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3"/>
            </p:custDataLst>
          </p:nvPr>
        </p:nvSpPr>
        <p:spPr>
          <a:xfrm>
            <a:off x="7112000" y="23495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数据库设计需具前瞻性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7112000" y="27686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初期表结构设计过于紧凑，缺乏对业务增长的预判，导致后期用户量激增时不得不进行大规模的表重构与数据迁移，成本高昂。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5"/>
            </p:custDataLst>
          </p:nvPr>
        </p:nvSpPr>
        <p:spPr>
          <a:xfrm>
            <a:off x="6350000" y="36195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500" y="3873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29"/>
            </p:custDataLst>
          </p:nvPr>
        </p:nvSpPr>
        <p:spPr>
          <a:xfrm>
            <a:off x="7112000" y="37465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确立分工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</a:t>
            </a:r>
            <a:endParaRPr lang="zh-CN" alt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>
            <p:custDataLst>
              <p:tags r:id="rId30"/>
            </p:custDataLst>
          </p:nvPr>
        </p:nvSpPr>
        <p:spPr>
          <a:xfrm>
            <a:off x="7112000" y="41656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初期多人交叉修改同一文件引发</a:t>
            </a: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了代码覆盖。教训是必须明确模块负责人机制，并</a:t>
            </a: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重视 </a:t>
            </a:r>
            <a:r>
              <a:rPr lang="en-US" altLang="zh-CN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 Review（</a:t>
            </a: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代码审查）流程，以杜绝破坏性提交。</a:t>
            </a:r>
            <a:endParaRPr lang="zh-CN" alt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31"/>
            </p:custDataLst>
          </p:nvPr>
        </p:nvSpPr>
        <p:spPr>
          <a:xfrm>
            <a:off x="6350000" y="50165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540500" y="5270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>
            <p:custDataLst>
              <p:tags r:id="rId35"/>
            </p:custDataLst>
          </p:nvPr>
        </p:nvSpPr>
        <p:spPr>
          <a:xfrm>
            <a:off x="7112000" y="51435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核心技术要全面、早期的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</a:t>
            </a:r>
            <a:endParaRPr lang="zh-CN" alt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>
            <p:custDataLst>
              <p:tags r:id="rId36"/>
            </p:custDataLst>
          </p:nvPr>
        </p:nvSpPr>
        <p:spPr>
          <a:xfrm>
            <a:off x="7112000" y="55626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初期验证时选用</a:t>
            </a:r>
            <a:r>
              <a:rPr lang="en-US" altLang="zh-CN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</a:t>
            </a: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站这个有现成</a:t>
            </a:r>
            <a:r>
              <a:rPr lang="en-US" altLang="zh-CN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</a:t>
            </a: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的平台，对核心技术难度产生</a:t>
            </a: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误判。低估了知乎、小红书等平台的爬虫</a:t>
            </a:r>
            <a:r>
              <a:rPr lang="zh-CN" alt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技术难度。</a:t>
            </a:r>
            <a:endParaRPr lang="zh-CN" alt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55000" y="-1270000"/>
            <a:ext cx="5080000" cy="5080000"/>
          </a:xfrm>
          <a:prstGeom prst="ellipse">
            <a:avLst/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0" y="4445000"/>
            <a:ext cx="2540000" cy="2540000"/>
          </a:xfrm>
          <a:prstGeom prst="ellipse">
            <a:avLst/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2286000"/>
            <a:ext cx="228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FFFF">
                    <a:alpha val="1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540000" y="3048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成员贡献与致谢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40000" y="4064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2540000" y="4572000"/>
            <a:ext cx="889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每一份创意的迸发与日夜的坚守，都是项目成功的基石。</a:t>
            </a:r>
            <a:b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在此向所有并肩作战的伙伴、给予支持的同仁致以最诚挚的感谢与敬意。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636000" y="-1016000"/>
            <a:ext cx="3810000" cy="381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333333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感谢每一位团队成员的辛勤付出！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546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本项目的成功离不开团队中每一位成员的专业技能、创新思维和无私奉献。正是大家的通力协作与各展所长，让「知食InfoDigest」从构想变为现实。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1016000" y="28575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333333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3048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587500" y="30226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Yange · 基建保障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171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搭建坚实的DevOps基础，实现自动化部署与持续集成，筑牢开发效率与交付稳定性的底座。</a:t>
            </a:r>
            <a:endParaRPr lang="en-US" sz="1200" b="0" i="0" u="none" strike="noStrike">
              <a:solidFill>
                <a:srgbClr val="7171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3746500" y="28575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333333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37000" y="3048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318000" y="30226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XXXXXXXXXXXX · 核心引擎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171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构建核心业务逻辑与AI分析引擎，为平台提供智能决策支持与高效的数据处理能力。</a:t>
            </a:r>
            <a:endParaRPr lang="en-US" sz="1200" b="0" i="0" u="none" strike="noStrike">
              <a:solidFill>
                <a:srgbClr val="7171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1016000" y="4191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333333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6500" y="438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1587500" y="43561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hezuoyi070229 · 安全防线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171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优化系统架构稳定性，筑牢数据安全防线，为业务平稳运行提供坚实的安全保障。</a:t>
            </a:r>
            <a:endParaRPr lang="en-US" sz="1200" b="0" i="0" u="none" strike="noStrike">
              <a:solidFill>
                <a:srgbClr val="7171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3746500" y="4191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333333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937000" y="4381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4318000" y="43561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meiqnuanquan · 体验设计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7171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打造流畅友好的UI界面与交互体验，兼顾美学设计与操作便捷性，显著提升用户留存。</a:t>
            </a:r>
            <a:endParaRPr lang="en-US" sz="1200" b="0" i="0" u="none" strike="noStrike">
              <a:solidFill>
                <a:srgbClr val="7171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6000" y="56515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团队协作是项目成功的关键，每一份专业的付出都让我们走得更远。”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985000" y="2540000"/>
            <a:ext cx="4445000" cy="3302000"/>
          </a:xfrm>
          <a:prstGeom prst="roundRect">
            <a:avLst>
              <a:gd name="adj" fmla="val 0"/>
            </a:avLst>
          </a:prstGeom>
          <a:solidFill>
            <a:srgbClr val="333333">
              <a:alpha val="3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36000" y="2921000"/>
            <a:ext cx="1143000" cy="1143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4191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协同创新 · 聚力前行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39000" y="4826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以专业赋能项目，以协作成就卓越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每一份投入都化作了项目成功的基石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33333">
              <a:alpha val="4000"/>
            </a:srgbClr>
          </a:solidFill>
          <a:ln cap="flat" cmpd="sng">
            <a:solidFill>
              <a:srgbClr val="1A1717">
                <a:alpha val="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668000" y="635000"/>
            <a:ext cx="2286000" cy="2286000"/>
          </a:xfrm>
          <a:prstGeom prst="ellipse">
            <a:avLst/>
          </a:prstGeom>
          <a:solidFill>
            <a:srgbClr val="333333">
              <a:alpha val="6000"/>
            </a:srgbClr>
          </a:solidFill>
          <a:ln cap="flat" cmpd="sng">
            <a:solidFill>
              <a:srgbClr val="1A1717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81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9530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感谢您的聆听与关注，若有任何疑问或进一步的交流需求，欢迎随时联系我们，期待共创价值。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2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3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4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5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6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7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8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9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10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11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12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13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14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15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16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17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18.xml><?xml version="1.0" encoding="utf-8"?>
<p:tagLst xmlns:p="http://schemas.openxmlformats.org/presentationml/2006/main">
  <p:tag name="KSO_WM_DIAGRAM_VIRTUALLY_FRAME" val="{&quot;height&quot;:280,&quot;left&quot;:80,&quot;top&quot;:160,&quot;width&quot;:799}"/>
</p:tagLst>
</file>

<file path=ppt/tags/tag19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20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21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22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23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24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25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26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27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28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29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30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31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32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33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34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35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36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37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38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39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40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41.xml><?xml version="1.0" encoding="utf-8"?>
<p:tagLst xmlns:p="http://schemas.openxmlformats.org/presentationml/2006/main">
  <p:tag name="KSO_WM_DIAGRAM_VIRTUALLY_FRAME" val="{&quot;height&quot;:365,&quot;left&quot;:80,&quot;top&quot;:150,&quot;width&quot;:820}"/>
</p:tagLst>
</file>

<file path=ppt/tags/tag42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43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44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45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46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47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48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49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50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51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52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53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54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55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56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57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58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59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60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61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62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63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64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65.xml><?xml version="1.0" encoding="utf-8"?>
<p:tagLst xmlns:p="http://schemas.openxmlformats.org/presentationml/2006/main">
  <p:tag name="KSO_WM_DIAGRAM_VIRTUALLY_FRAME" val="{&quot;height&quot;:298.08000000000004,&quot;left&quot;:47.79,&quot;top&quot;:122.4,&quot;width&quot;:827.01}"/>
</p:tagLst>
</file>

<file path=ppt/tags/tag66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67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68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69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70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71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72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73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74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75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76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77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78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79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80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81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82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83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84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85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86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87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88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89.xml><?xml version="1.0" encoding="utf-8"?>
<p:tagLst xmlns:p="http://schemas.openxmlformats.org/presentationml/2006/main">
  <p:tag name="KSO_WM_DIAGRAM_VIRTUALLY_FRAME" val="{&quot;height&quot;:315,&quot;left&quot;:80,&quot;top&quot;:175,&quot;width&quot;:800}"/>
</p:tagLst>
</file>

<file path=ppt/tags/tag90.xml><?xml version="1.0" encoding="utf-8"?>
<p:tagLst xmlns:p="http://schemas.openxmlformats.org/presentationml/2006/main">
  <p:tag name="KSO_WM_DIAGRAM_VIRTUALLY_FRAME" val="{&quot;height&quot;:200,&quot;left&quot;:80,&quot;top&quot;:225,&quot;width&quot;:420}"/>
</p:tagLst>
</file>

<file path=ppt/tags/tag91.xml><?xml version="1.0" encoding="utf-8"?>
<p:tagLst xmlns:p="http://schemas.openxmlformats.org/presentationml/2006/main">
  <p:tag name="KSO_WM_DIAGRAM_VIRTUALLY_FRAME" val="{&quot;height&quot;:200,&quot;left&quot;:80,&quot;top&quot;:225,&quot;width&quot;:420}"/>
</p:tagLst>
</file>

<file path=ppt/tags/tag92.xml><?xml version="1.0" encoding="utf-8"?>
<p:tagLst xmlns:p="http://schemas.openxmlformats.org/presentationml/2006/main">
  <p:tag name="KSO_WM_DIAGRAM_VIRTUALLY_FRAME" val="{&quot;height&quot;:200,&quot;left&quot;:80,&quot;top&quot;:225,&quot;width&quot;:420}"/>
</p:tagLst>
</file>

<file path=ppt/tags/tag93.xml><?xml version="1.0" encoding="utf-8"?>
<p:tagLst xmlns:p="http://schemas.openxmlformats.org/presentationml/2006/main">
  <p:tag name="KSO_WM_DIAGRAM_VIRTUALLY_FRAME" val="{&quot;height&quot;:200,&quot;left&quot;:80,&quot;top&quot;:225,&quot;width&quot;:420}"/>
</p:tagLst>
</file>

<file path=ppt/tags/tag94.xml><?xml version="1.0" encoding="utf-8"?>
<p:tagLst xmlns:p="http://schemas.openxmlformats.org/presentationml/2006/main">
  <p:tag name="KSO_WM_DIAGRAM_VIRTUALLY_FRAME" val="{&quot;height&quot;:200,&quot;left&quot;:80,&quot;top&quot;:225,&quot;width&quot;:420}"/>
</p:tagLst>
</file>

<file path=ppt/tags/tag95.xml><?xml version="1.0" encoding="utf-8"?>
<p:tagLst xmlns:p="http://schemas.openxmlformats.org/presentationml/2006/main">
  <p:tag name="KSO_WM_DIAGRAM_VIRTUALLY_FRAME" val="{&quot;height&quot;:200,&quot;left&quot;:80,&quot;top&quot;:225,&quot;width&quot;:420}"/>
</p:tagLst>
</file>

<file path=ppt/tags/tag96.xml><?xml version="1.0" encoding="utf-8"?>
<p:tagLst xmlns:p="http://schemas.openxmlformats.org/presentationml/2006/main">
  <p:tag name="KSO_WM_DIAGRAM_VIRTUALLY_FRAME" val="{&quot;height&quot;:200,&quot;left&quot;:80,&quot;top&quot;:225,&quot;width&quot;:420}"/>
</p:tagLst>
</file>

<file path=ppt/tags/tag97.xml><?xml version="1.0" encoding="utf-8"?>
<p:tagLst xmlns:p="http://schemas.openxmlformats.org/presentationml/2006/main">
  <p:tag name="KSO_WM_DIAGRAM_VIRTUALLY_FRAME" val="{&quot;height&quot;:200,&quot;left&quot;:80,&quot;top&quot;:225,&quot;width&quot;:420}"/>
</p:tagLst>
</file>

<file path=ppt/tags/tag98.xml><?xml version="1.0" encoding="utf-8"?>
<p:tagLst xmlns:p="http://schemas.openxmlformats.org/presentationml/2006/main">
  <p:tag name="KSO_WM_DIAGRAM_VIRTUALLY_FRAME" val="{&quot;height&quot;:200,&quot;left&quot;:80,&quot;top&quot;:225,&quot;width&quot;:420}"/>
</p:tagLst>
</file>

<file path=ppt/tags/tag99.xml><?xml version="1.0" encoding="utf-8"?>
<p:tagLst xmlns:p="http://schemas.openxmlformats.org/presentationml/2006/main">
  <p:tag name="KSO_WM_DIAGRAM_VIRTUALLY_FRAME" val="{&quot;height&quot;:200,&quot;left&quot;:80,&quot;top&quot;:225,&quot;width&quot;:420}"/>
</p:tagLst>
</file>

<file path=ppt/tags/tag100.xml><?xml version="1.0" encoding="utf-8"?>
<p:tagLst xmlns:p="http://schemas.openxmlformats.org/presentationml/2006/main">
  <p:tag name="KSO_WM_DIAGRAM_VIRTUALLY_FRAME" val="{&quot;height&quot;:200,&quot;left&quot;:80,&quot;top&quot;:225,&quot;width&quot;:420}"/>
</p:tagLst>
</file>

<file path=ppt/tags/tag101.xml><?xml version="1.0" encoding="utf-8"?>
<p:tagLst xmlns:p="http://schemas.openxmlformats.org/presentationml/2006/main">
  <p:tag name="KSO_WM_DIAGRAM_VIRTUALLY_FRAME" val="{&quot;height&quot;:200,&quot;left&quot;:80,&quot;top&quot;:225,&quot;width&quot;:4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3588</Words>
  <Application>WPS 演示</Application>
  <PresentationFormat/>
  <Paragraphs>260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2026-07-30T14:20:00Z</dcterms:created>
  <dcterms:modified xsi:type="dcterms:W3CDTF">2026-07-31T05:17:21Z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